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cat>
            <c:strRef>
              <c:f>Sheet1!$A$2:$A$5</c:f>
              <c:strCache>
                <c:ptCount val="4"/>
                <c:pt idx="0">
                  <c:v>Friend recommendations</c:v>
                </c:pt>
                <c:pt idx="1">
                  <c:v>Feed advertisements</c:v>
                </c:pt>
                <c:pt idx="2">
                  <c:v>Brand social posts</c:v>
                </c:pt>
                <c:pt idx="3">
                  <c:v>Influencer posts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49</c:v>
                </c:pt>
                <c:pt idx="2">
                  <c:v>54</c:v>
                </c:pt>
                <c:pt idx="3">
                  <c:v>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dPt>
            <c:idx val="4"/>
            <c:spPr>
              <a:solidFill>
                <a:srgbClr val="6C8EBF"/>
              </a:solidFill>
            </c:spPr>
          </c:dPt>
          <c:cat>
            <c:strRef>
              <c:f>Sheet1!$A$2:$A$6</c:f>
              <c:strCache>
                <c:ptCount val="5"/>
                <c:pt idx="0">
                  <c:v>I avoid fashion brands that do not ensu…</c:v>
                </c:pt>
                <c:pt idx="1">
                  <c:v>For me, premium fashion brands are wort…</c:v>
                </c:pt>
                <c:pt idx="2">
                  <c:v>I often buy fashion items based on the…</c:v>
                </c:pt>
                <c:pt idx="3">
                  <c:v>I have a favorite fashion brand that I…</c:v>
                </c:pt>
                <c:pt idx="4">
                  <c:v>When shopping for clothes, trying them…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25</c:v>
                </c:pt>
                <c:pt idx="2">
                  <c:v>32</c:v>
                </c:pt>
                <c:pt idx="3">
                  <c:v>40</c:v>
                </c:pt>
                <c:pt idx="4">
                  <c:v>51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Rank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dPt>
            <c:idx val="4"/>
            <c:spPr>
              <a:solidFill>
                <a:srgbClr val="6C8EBF"/>
              </a:solidFill>
            </c:spPr>
          </c:dPt>
          <c:dPt>
            <c:idx val="5"/>
            <c:spPr>
              <a:solidFill>
                <a:srgbClr val="6C8EBF"/>
              </a:solidFill>
            </c:spPr>
          </c:dPt>
          <c:dPt>
            <c:idx val="6"/>
            <c:spPr>
              <a:solidFill>
                <a:srgbClr val="6C8EBF"/>
              </a:solidFill>
            </c:spPr>
          </c:dPt>
          <c:dPt>
            <c:idx val="7"/>
            <c:spPr>
              <a:solidFill>
                <a:srgbClr val="6C8EBF"/>
              </a:solidFill>
            </c:spPr>
          </c:dPt>
          <c:dPt>
            <c:idx val="8"/>
            <c:spPr>
              <a:solidFill>
                <a:srgbClr val="6C8EBF"/>
              </a:solidFill>
            </c:spPr>
          </c:dPt>
          <c:dPt>
            <c:idx val="9"/>
            <c:spPr>
              <a:solidFill>
                <a:srgbClr val="6C8EBF"/>
              </a:solidFill>
            </c:spPr>
          </c:dPt>
          <c:cat>
            <c:strRef>
              <c:f>Sheet1!$A$2:$A$11</c:f>
              <c:strCache>
                <c:ptCount val="10"/>
                <c:pt idx="0">
                  <c:v>10. Panoxyl</c:v>
                </c:pt>
                <c:pt idx="1">
                  <c:v>9. Lush</c:v>
                </c:pt>
                <c:pt idx="2">
                  <c:v>8. Summer Fridays</c:v>
                </c:pt>
                <c:pt idx="3">
                  <c:v>7. Morphe</c:v>
                </c:pt>
                <c:pt idx="4">
                  <c:v>6. Rare Beauty</c:v>
                </c:pt>
                <c:pt idx="5">
                  <c:v>5. Trojan</c:v>
                </c:pt>
                <c:pt idx="6">
                  <c:v>4. Fenty Beauty</c:v>
                </c:pt>
                <c:pt idx="7">
                  <c:v>3. Samyang</c:v>
                </c:pt>
                <c:pt idx="8">
                  <c:v>2. Victoria's Secret</c:v>
                </c:pt>
                <c:pt idx="9">
                  <c:v>1. The Ordinary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19</c:v>
                </c:pt>
                <c:pt idx="8">
                  <c:v>19</c:v>
                </c:pt>
                <c:pt idx="9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A70"/>
                </a:solidFill>
                <a:latin typeface="Calibri"/>
              </a:defRPr>
            </a:pPr>
            <a:r>
              <a:t>Gen Z Purchase Behavior: Key Insights from Statista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280"/>
                </a:solidFill>
                <a:latin typeface="Calibri"/>
              </a:defRPr>
            </a:pPr>
            <a:r>
              <a:t>Note: One source shows a time discrepancy: published on October 17, 2024, but references 2025 data. Such forward-looking statements should be interpreted as projections rather than confirmed historical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Behavior: Key Insights from Statista Data  |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Digital Impulses &amp; Purchase Influence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Digital channels are the primary drivers of Gen Z purchase decisions.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Actions influencing Gen Zers' purchase decisions in the United States in 2025, GoDaddy, October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Behavior: Key Insights from Statista Data  |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Fashion &amp; Product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Physical product experience and personal preference are critical in fashion purchasing.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Gen Z attitudes toward fashion in the United States in 2025, Statista Consumer Insights, 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Behavior: Key Insights from Statista Data  |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Brand Preferences &amp; Beauty Dominance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Beauty brands dominate Gen Z brand preferences, with skincare leading the category.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Most popular brands among Generation Z in the United States in 2025, Numerator, August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Behavior: Key Insights from Statista Data  |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Digital Impulses &amp; Purchase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102412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Fashion &amp; Product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79192"/>
            <a:ext cx="102412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Brand Preferences &amp; Beauty Dominance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Source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Note: One source shows a time discrepancy: published on October 17, 2024, but references 2025 data. Such forward-looking statements should be interpreted as projections rather than confirmed historical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Behavior: Key Insights from Statista Data  |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