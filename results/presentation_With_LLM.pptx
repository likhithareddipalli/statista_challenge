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(%)</c:v>
                </c:pt>
              </c:strCache>
            </c:strRef>
          </c:tx>
          <c:dPt>
            <c:idx val="0"/>
            <c:spPr>
              <a:solidFill>
                <a:srgbClr val="6C8EBF"/>
              </a:solidFill>
            </c:spPr>
          </c:dPt>
          <c:dPt>
            <c:idx val="1"/>
            <c:spPr>
              <a:solidFill>
                <a:srgbClr val="6C8EBF"/>
              </a:solidFill>
            </c:spPr>
          </c:dPt>
          <c:dPt>
            <c:idx val="2"/>
            <c:spPr>
              <a:solidFill>
                <a:srgbClr val="6C8EBF"/>
              </a:solidFill>
            </c:spPr>
          </c:dPt>
          <c:dPt>
            <c:idx val="3"/>
            <c:spPr>
              <a:solidFill>
                <a:srgbClr val="6C8EBF"/>
              </a:solidFill>
            </c:spPr>
          </c:dPt>
          <c:cat>
            <c:strRef>
              <c:f>Sheet1!$A$2:$A$5</c:f>
              <c:strCache>
                <c:ptCount val="4"/>
                <c:pt idx="0">
                  <c:v>Friend recommendations</c:v>
                </c:pt>
                <c:pt idx="1">
                  <c:v>Feed advertisements</c:v>
                </c:pt>
                <c:pt idx="2">
                  <c:v>Brand social posts</c:v>
                </c:pt>
                <c:pt idx="3">
                  <c:v>Influencer posts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40.0</c:v>
                </c:pt>
                <c:pt idx="1">
                  <c:v>49.0</c:v>
                </c:pt>
                <c:pt idx="2">
                  <c:v>54.0</c:v>
                </c:pt>
                <c:pt idx="3">
                  <c:v>57.0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0">
                  <a:solidFill>
                    <a:srgbClr val="1F293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solidFill>
                  <a:srgbClr val="1F293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(%)</c:v>
                </c:pt>
              </c:strCache>
            </c:strRef>
          </c:tx>
          <c:dPt>
            <c:idx val="0"/>
            <c:spPr>
              <a:solidFill>
                <a:srgbClr val="6C8EBF"/>
              </a:solidFill>
            </c:spPr>
          </c:dPt>
          <c:dPt>
            <c:idx val="1"/>
            <c:spPr>
              <a:solidFill>
                <a:srgbClr val="6C8EBF"/>
              </a:solidFill>
            </c:spPr>
          </c:dPt>
          <c:dPt>
            <c:idx val="2"/>
            <c:spPr>
              <a:solidFill>
                <a:srgbClr val="6C8EBF"/>
              </a:solidFill>
            </c:spPr>
          </c:dPt>
          <c:dPt>
            <c:idx val="3"/>
            <c:spPr>
              <a:solidFill>
                <a:srgbClr val="6C8EBF"/>
              </a:solidFill>
            </c:spPr>
          </c:dPt>
          <c:dPt>
            <c:idx val="4"/>
            <c:spPr>
              <a:solidFill>
                <a:srgbClr val="6C8EBF"/>
              </a:solidFill>
            </c:spPr>
          </c:dPt>
          <c:cat>
            <c:strRef>
              <c:f>Sheet1!$A$2:$A$6</c:f>
              <c:strCache>
                <c:ptCount val="5"/>
                <c:pt idx="0">
                  <c:v>Avoid unfair labor practices</c:v>
                </c:pt>
                <c:pt idx="1">
                  <c:v>Premium brands worth higher price</c:v>
                </c:pt>
                <c:pt idx="2">
                  <c:v>Buy based on latest trends</c:v>
                </c:pt>
                <c:pt idx="3">
                  <c:v>Have a favorite fashion brand</c:v>
                </c:pt>
                <c:pt idx="4">
                  <c:v>Trying on clothes is essential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21.0</c:v>
                </c:pt>
                <c:pt idx="1">
                  <c:v>25.0</c:v>
                </c:pt>
                <c:pt idx="2">
                  <c:v>32.0</c:v>
                </c:pt>
                <c:pt idx="3">
                  <c:v>40.0</c:v>
                </c:pt>
                <c:pt idx="4">
                  <c:v>51.0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0">
                  <a:solidFill>
                    <a:srgbClr val="1F293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solidFill>
                  <a:srgbClr val="1F293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Rank (%)</c:v>
                </c:pt>
              </c:strCache>
            </c:strRef>
          </c:tx>
          <c:dPt>
            <c:idx val="0"/>
            <c:spPr>
              <a:solidFill>
                <a:srgbClr val="6C8EBF"/>
              </a:solidFill>
            </c:spPr>
          </c:dPt>
          <c:dPt>
            <c:idx val="1"/>
            <c:spPr>
              <a:solidFill>
                <a:srgbClr val="6C8EBF"/>
              </a:solidFill>
            </c:spPr>
          </c:dPt>
          <c:dPt>
            <c:idx val="2"/>
            <c:spPr>
              <a:solidFill>
                <a:srgbClr val="6C8EBF"/>
              </a:solidFill>
            </c:spPr>
          </c:dPt>
          <c:dPt>
            <c:idx val="3"/>
            <c:spPr>
              <a:solidFill>
                <a:srgbClr val="6C8EBF"/>
              </a:solidFill>
            </c:spPr>
          </c:dPt>
          <c:dPt>
            <c:idx val="4"/>
            <c:spPr>
              <a:solidFill>
                <a:srgbClr val="6C8EBF"/>
              </a:solidFill>
            </c:spPr>
          </c:dPt>
          <c:dPt>
            <c:idx val="5"/>
            <c:spPr>
              <a:solidFill>
                <a:srgbClr val="6C8EBF"/>
              </a:solidFill>
            </c:spPr>
          </c:dPt>
          <c:dPt>
            <c:idx val="6"/>
            <c:spPr>
              <a:solidFill>
                <a:srgbClr val="6C8EBF"/>
              </a:solidFill>
            </c:spPr>
          </c:dPt>
          <c:dPt>
            <c:idx val="7"/>
            <c:spPr>
              <a:solidFill>
                <a:srgbClr val="6C8EBF"/>
              </a:solidFill>
            </c:spPr>
          </c:dPt>
          <c:dPt>
            <c:idx val="8"/>
            <c:spPr>
              <a:solidFill>
                <a:srgbClr val="6C8EBF"/>
              </a:solidFill>
            </c:spPr>
          </c:dPt>
          <c:dPt>
            <c:idx val="9"/>
            <c:spPr>
              <a:solidFill>
                <a:srgbClr val="6C8EBF"/>
              </a:solidFill>
            </c:spPr>
          </c:dPt>
          <c:cat>
            <c:strRef>
              <c:f>Sheet1!$A$2:$A$11</c:f>
              <c:strCache>
                <c:ptCount val="10"/>
                <c:pt idx="0">
                  <c:v>10. Panoxyl</c:v>
                </c:pt>
                <c:pt idx="1">
                  <c:v>9. Lush</c:v>
                </c:pt>
                <c:pt idx="2">
                  <c:v>8. Summer Fridays</c:v>
                </c:pt>
                <c:pt idx="3">
                  <c:v>7. Morphe</c:v>
                </c:pt>
                <c:pt idx="4">
                  <c:v>6. Rare Beauty</c:v>
                </c:pt>
                <c:pt idx="5">
                  <c:v>5. Trojan</c:v>
                </c:pt>
                <c:pt idx="6">
                  <c:v>4. Fenty Beauty</c:v>
                </c:pt>
                <c:pt idx="7">
                  <c:v>3. Samyang</c:v>
                </c:pt>
                <c:pt idx="8">
                  <c:v>2. Victoria's Secret</c:v>
                </c:pt>
                <c:pt idx="9">
                  <c:v>1. The Ordinary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10.0</c:v>
                </c:pt>
                <c:pt idx="1">
                  <c:v>10.0</c:v>
                </c:pt>
                <c:pt idx="2">
                  <c:v>10.0</c:v>
                </c:pt>
                <c:pt idx="3">
                  <c:v>11.0</c:v>
                </c:pt>
                <c:pt idx="4">
                  <c:v>11.0</c:v>
                </c:pt>
                <c:pt idx="5">
                  <c:v>12.0</c:v>
                </c:pt>
                <c:pt idx="6">
                  <c:v>12.0</c:v>
                </c:pt>
                <c:pt idx="7">
                  <c:v>19.0</c:v>
                </c:pt>
                <c:pt idx="8">
                  <c:v>19.0</c:v>
                </c:pt>
                <c:pt idx="9">
                  <c:v>20.0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0">
                  <a:solidFill>
                    <a:srgbClr val="1F2937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solidFill>
                  <a:srgbClr val="1F293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3A70"/>
                </a:solidFill>
                <a:latin typeface="Calibri"/>
              </a:defRPr>
            </a:pPr>
            <a:r>
              <a:t>Gen Z Purchase Behavior in the U.S.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F2937"/>
                </a:solidFill>
                <a:latin typeface="Calibri"/>
              </a:defRPr>
            </a:pPr>
            <a:r>
              <a:t>An Analytical Report on Digital Influence, Retail Expectations, and Brand Preferences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355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Calibri"/>
              </a:defRPr>
            </a:pPr>
            <a:r>
              <a:t>Gen Z Purchase Behavior in the U.S.  |  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03A70"/>
                </a:solidFill>
                <a:latin typeface="Calibri"/>
              </a:defRPr>
            </a:pPr>
            <a:r>
              <a:t>Executive Summary: Key Purchase Drivers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2011680" cy="254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6B7280"/>
                </a:solidFill>
                <a:latin typeface="Calibri"/>
              </a:defRPr>
            </a:pPr>
            <a:r>
              <a:t>Digital social channels and hands-on product experiences define Gen Z commercial habits.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228600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2286000" cy="19050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40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003A70"/>
                </a:solidFill>
                <a:latin typeface="Calibri"/>
              </a:defRPr>
            </a:pPr>
            <a:r>
              <a:t>57%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63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F2937"/>
                </a:solidFill>
                <a:latin typeface="Calibri"/>
              </a:defRPr>
            </a:pPr>
            <a:r>
              <a:t>Influencer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204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Top purchase trigger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1828800"/>
            <a:ext cx="228600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66160" y="1828800"/>
            <a:ext cx="2286000" cy="19050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240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003A70"/>
                </a:solidFill>
                <a:latin typeface="Calibri"/>
              </a:defRPr>
            </a:pPr>
            <a:r>
              <a:t>51%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063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F2937"/>
                </a:solidFill>
                <a:latin typeface="Calibri"/>
              </a:defRPr>
            </a:pPr>
            <a:r>
              <a:t>In-Store Fitting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5204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Essential in fashion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828800"/>
            <a:ext cx="228600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828800"/>
            <a:ext cx="2286000" cy="19050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240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003A70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F2937"/>
                </a:solidFill>
                <a:latin typeface="Calibri"/>
              </a:defRPr>
            </a:pPr>
            <a:r>
              <a:t>Brand Loyalty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5204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Have a favorite brand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828800"/>
            <a:ext cx="2286000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1828800"/>
            <a:ext cx="2286000" cy="19050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2240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003A70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063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F2937"/>
                </a:solidFill>
                <a:latin typeface="Calibri"/>
              </a:defRPr>
            </a:pPr>
            <a:r>
              <a:t>Top Brand 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35204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The Ordinary (#1)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3550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B7280"/>
                </a:solidFill>
                <a:latin typeface="Calibri"/>
              </a:defRPr>
            </a:pPr>
            <a:r>
              <a:t>Source: Statista Consumer Insights &amp; Partner Research, 2024–2025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Calibri"/>
              </a:defRPr>
            </a:pPr>
            <a:r>
              <a:t>Gen Z Purchase Behavior in the U.S.  |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03A70"/>
                </a:solidFill>
                <a:latin typeface="Calibri"/>
              </a:defRPr>
            </a:pPr>
            <a:r>
              <a:t>Digital Impulses Drive Purchase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2011680" cy="254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6B7280"/>
                </a:solidFill>
                <a:latin typeface="Calibri"/>
              </a:defRPr>
            </a:pPr>
            <a:r>
              <a:t>Influencer posts and brand social channels are the primary triggers for Gen Z buying.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737360"/>
          <a:ext cx="1051560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B7280"/>
                </a:solidFill>
                <a:latin typeface="Calibri"/>
              </a:defRPr>
            </a:pPr>
            <a:r>
              <a:t>Source: Actions influencing Gen Zers' purchase decisions in the United States in 2025, GoDaddy, October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355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Calibri"/>
              </a:defRPr>
            </a:pPr>
            <a:r>
              <a:t>Gen Z Purchase Behavior in the U.S.  |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03A70"/>
                </a:solidFill>
                <a:latin typeface="Calibri"/>
              </a:defRPr>
            </a:pPr>
            <a:r>
              <a:t>Product Experience Shapes Apparel Choices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2011680" cy="254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6B7280"/>
                </a:solidFill>
                <a:latin typeface="Calibri"/>
              </a:defRPr>
            </a:pPr>
            <a:r>
              <a:t>Despite digital habits, physical fit remains critical for apparel conversion.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737360"/>
          <a:ext cx="1051560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B7280"/>
                </a:solidFill>
                <a:latin typeface="Calibri"/>
              </a:defRPr>
            </a:pPr>
            <a:r>
              <a:t>Source: Gen Z attitudes toward fashion in the United States in 2025, Statista Consumer Insights, December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355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Calibri"/>
              </a:defRPr>
            </a:pPr>
            <a:r>
              <a:t>Gen Z Purchase Behavior in the U.S.  |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03A70"/>
                </a:solidFill>
                <a:latin typeface="Calibri"/>
              </a:defRPr>
            </a:pPr>
            <a:r>
              <a:t>Beauty &amp; Skincare Dominate Brand Rankings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2011680" cy="254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6B7280"/>
                </a:solidFill>
                <a:latin typeface="Calibri"/>
              </a:defRPr>
            </a:pPr>
            <a:r>
              <a:t>Skincare and cosmetics brands lead disproportionately among Gen Z consumers.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737360"/>
          <a:ext cx="1051560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B7280"/>
                </a:solidFill>
                <a:latin typeface="Calibri"/>
              </a:defRPr>
            </a:pPr>
            <a:r>
              <a:t>Source: Most popular brands among Generation Z in the United States in 2025, Numerator, August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355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Calibri"/>
              </a:defRPr>
            </a:pPr>
            <a:r>
              <a:t>Gen Z Purchase Behavior in the U.S.  |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03A70"/>
                </a:solidFill>
                <a:latin typeface="Calibri"/>
              </a:defRPr>
            </a:pPr>
            <a:r>
              <a:t>Strategic Outlook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2011680" cy="254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03A70"/>
                </a:solidFill>
                <a:latin typeface="Calibri"/>
              </a:defRPr>
            </a:pPr>
            <a:r>
              <a:t>Brands must connect social discovery with authentic product experience.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48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C8EB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692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Calibri"/>
              </a:defRPr>
            </a:pPr>
            <a:r>
              <a:t>Prioritize creator partnerships and active brand channels to capture digital intent.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70632"/>
            <a:ext cx="1024128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548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C8EB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80360"/>
            <a:ext cx="9692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Calibri"/>
              </a:defRPr>
            </a:pPr>
            <a:r>
              <a:t>Maintain physical touchpoints and flexible return policies to satisfy trial needs.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547872"/>
            <a:ext cx="1024128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657600"/>
            <a:ext cx="548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C8EB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57600"/>
            <a:ext cx="9692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Calibri"/>
              </a:defRPr>
            </a:pPr>
            <a:r>
              <a:t>Position value and product efficacy at the core of messaging, particularly in personal care.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B7280"/>
                </a:solidFill>
                <a:latin typeface="Calibri"/>
              </a:defRPr>
            </a:pPr>
            <a:r>
              <a:t>Source: Statista Research &amp; Analysis,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864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B7280"/>
                </a:solidFill>
                <a:latin typeface="Calibri"/>
              </a:defRPr>
            </a:pPr>
            <a:r>
              <a:t>Note: Methodology based on 3 independent Statista surveys (~10,600 respondents total, US, 2024–2025). The GoDaddy survey was published Oct 2024 referencing 2025 data, serving as forward-looking projections.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Calibri"/>
              </a:defRPr>
            </a:pPr>
            <a:r>
              <a:t>Gen Z Purchase Behavior in the U.S.  |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