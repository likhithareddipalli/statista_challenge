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cat>
            <c:strRef>
              <c:f>Sheet1!$A$2:$A$5</c:f>
              <c:strCache>
                <c:ptCount val="4"/>
                <c:pt idx="0">
                  <c:v>Friend recommendations</c:v>
                </c:pt>
                <c:pt idx="1">
                  <c:v>Feed advertisements</c:v>
                </c:pt>
                <c:pt idx="2">
                  <c:v>Brand social posts</c:v>
                </c:pt>
                <c:pt idx="3">
                  <c:v>Influencer posts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40.0</c:v>
                </c:pt>
                <c:pt idx="1">
                  <c:v>49.0</c:v>
                </c:pt>
                <c:pt idx="2">
                  <c:v>54.0</c:v>
                </c:pt>
                <c:pt idx="3">
                  <c:v>57.0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dPt>
            <c:idx val="4"/>
            <c:spPr>
              <a:solidFill>
                <a:srgbClr val="6C8EBF"/>
              </a:solidFill>
            </c:spPr>
          </c:dPt>
          <c:cat>
            <c:strRef>
              <c:f>Sheet1!$A$2:$A$6</c:f>
              <c:strCache>
                <c:ptCount val="5"/>
                <c:pt idx="0">
                  <c:v>Avoid unfair labor practices</c:v>
                </c:pt>
                <c:pt idx="1">
                  <c:v>Premium brands worth higher price</c:v>
                </c:pt>
                <c:pt idx="2">
                  <c:v>Buy based on latest trends</c:v>
                </c:pt>
                <c:pt idx="3">
                  <c:v>Have a favorite fashion brand</c:v>
                </c:pt>
                <c:pt idx="4">
                  <c:v>Trying on clothes is essential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21.0</c:v>
                </c:pt>
                <c:pt idx="1">
                  <c:v>25.0</c:v>
                </c:pt>
                <c:pt idx="2">
                  <c:v>32.0</c:v>
                </c:pt>
                <c:pt idx="3">
                  <c:v>40.0</c:v>
                </c:pt>
                <c:pt idx="4">
                  <c:v>51.0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Rank (%)</c:v>
                </c:pt>
              </c:strCache>
            </c:strRef>
          </c:tx>
          <c:dPt>
            <c:idx val="0"/>
            <c:spPr>
              <a:solidFill>
                <a:srgbClr val="6C8EBF"/>
              </a:solidFill>
            </c:spPr>
          </c:dPt>
          <c:dPt>
            <c:idx val="1"/>
            <c:spPr>
              <a:solidFill>
                <a:srgbClr val="6C8EBF"/>
              </a:solidFill>
            </c:spPr>
          </c:dPt>
          <c:dPt>
            <c:idx val="2"/>
            <c:spPr>
              <a:solidFill>
                <a:srgbClr val="6C8EBF"/>
              </a:solidFill>
            </c:spPr>
          </c:dPt>
          <c:dPt>
            <c:idx val="3"/>
            <c:spPr>
              <a:solidFill>
                <a:srgbClr val="6C8EBF"/>
              </a:solidFill>
            </c:spPr>
          </c:dPt>
          <c:dPt>
            <c:idx val="4"/>
            <c:spPr>
              <a:solidFill>
                <a:srgbClr val="6C8EBF"/>
              </a:solidFill>
            </c:spPr>
          </c:dPt>
          <c:dPt>
            <c:idx val="5"/>
            <c:spPr>
              <a:solidFill>
                <a:srgbClr val="6C8EBF"/>
              </a:solidFill>
            </c:spPr>
          </c:dPt>
          <c:dPt>
            <c:idx val="6"/>
            <c:spPr>
              <a:solidFill>
                <a:srgbClr val="6C8EBF"/>
              </a:solidFill>
            </c:spPr>
          </c:dPt>
          <c:dPt>
            <c:idx val="7"/>
            <c:spPr>
              <a:solidFill>
                <a:srgbClr val="6C8EBF"/>
              </a:solidFill>
            </c:spPr>
          </c:dPt>
          <c:dPt>
            <c:idx val="8"/>
            <c:spPr>
              <a:solidFill>
                <a:srgbClr val="6C8EBF"/>
              </a:solidFill>
            </c:spPr>
          </c:dPt>
          <c:dPt>
            <c:idx val="9"/>
            <c:spPr>
              <a:solidFill>
                <a:srgbClr val="6C8EBF"/>
              </a:solidFill>
            </c:spPr>
          </c:dPt>
          <c:cat>
            <c:strRef>
              <c:f>Sheet1!$A$2:$A$11</c:f>
              <c:strCache>
                <c:ptCount val="10"/>
                <c:pt idx="0">
                  <c:v>10. Panoxyl</c:v>
                </c:pt>
                <c:pt idx="1">
                  <c:v>9. Lush</c:v>
                </c:pt>
                <c:pt idx="2">
                  <c:v>8. Summer Fridays</c:v>
                </c:pt>
                <c:pt idx="3">
                  <c:v>7. Morphe</c:v>
                </c:pt>
                <c:pt idx="4">
                  <c:v>6. Rare Beauty</c:v>
                </c:pt>
                <c:pt idx="5">
                  <c:v>5. Trojan</c:v>
                </c:pt>
                <c:pt idx="6">
                  <c:v>4. Fenty Beauty</c:v>
                </c:pt>
                <c:pt idx="7">
                  <c:v>3. Samyang</c:v>
                </c:pt>
                <c:pt idx="8">
                  <c:v>2. Victoria's Secret</c:v>
                </c:pt>
                <c:pt idx="9">
                  <c:v>1. The Ordinary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10.0</c:v>
                </c:pt>
                <c:pt idx="1">
                  <c:v>10.0</c:v>
                </c:pt>
                <c:pt idx="2">
                  <c:v>10.0</c:v>
                </c:pt>
                <c:pt idx="3">
                  <c:v>11.0</c:v>
                </c:pt>
                <c:pt idx="4">
                  <c:v>11.0</c:v>
                </c:pt>
                <c:pt idx="5">
                  <c:v>12.0</c:v>
                </c:pt>
                <c:pt idx="6">
                  <c:v>12.0</c:v>
                </c:pt>
                <c:pt idx="7">
                  <c:v>19.0</c:v>
                </c:pt>
                <c:pt idx="8">
                  <c:v>19.0</c:v>
                </c:pt>
                <c:pt idx="9">
                  <c:v>20.0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F29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317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6B7280"/>
                    </a:solidFill>
                    <a:latin typeface="Calibri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A70"/>
                </a:solidFill>
                <a:latin typeface="Calibri"/>
              </a:defRPr>
            </a:pPr>
            <a:r>
              <a:t>Gen Z Purchase Behavior in the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Calibri"/>
              </a:defRPr>
            </a:pPr>
            <a:r>
              <a:t>Key Drivers, Brand Affinity, and Retail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Gen Z Consumer Behavior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Digital influence and product experience drive Gen Z purchase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286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286000" cy="19050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3A70"/>
                </a:solidFill>
                <a:latin typeface="Calibri"/>
              </a:defRPr>
            </a:pPr>
            <a: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Influencer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Calibri"/>
              </a:defRPr>
            </a:pPr>
            <a:r>
              <a:t>Top purchase trigger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286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286000" cy="19050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3A70"/>
                </a:solidFill>
                <a:latin typeface="Calibri"/>
              </a:defRPr>
            </a:pPr>
            <a:r>
              <a:t>51%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Calibri"/>
              </a:defRPr>
            </a:pPr>
            <a:r>
              <a:t>In-Store Try-On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Calibri"/>
              </a:defRPr>
            </a:pPr>
            <a:r>
              <a:t>Essential for fashion shopping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286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286000" cy="19050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3A7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Calibri"/>
              </a:defRPr>
            </a:pPr>
            <a:r>
              <a:t>Brand 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Calibri"/>
              </a:defRPr>
            </a:pPr>
            <a:r>
              <a:t>Prefer a favorite brand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286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828800"/>
            <a:ext cx="2286000" cy="19050"/>
          </a:xfrm>
          <a:prstGeom prst="rect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240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3A70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Calibri"/>
              </a:defRPr>
            </a:pPr>
            <a:r>
              <a:t>Top Brand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Calibri"/>
              </a:defRPr>
            </a:pPr>
            <a:r>
              <a:t>The Ordinary (#1 index)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Statista Consumer Insights, GoDaddy, Numerator (2024–2025)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Digital Impulses &amp; Purchase Influences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Influencer content and direct brand social posts drive primary purchase behavior.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GoDaddy, October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Fashion Preferences &amp; Buying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Physical product evaluation remains essential despite high digital engagement.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Statista Consumer Insights, 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Most Popular Brands Among Gen 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B7280"/>
                </a:solidFill>
                <a:latin typeface="Calibri"/>
              </a:defRPr>
            </a:pPr>
            <a:r>
              <a:t>Skincare and beauty brands dominate Gen Z brand preferences.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Numerator, August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3A70"/>
                </a:solidFill>
                <a:latin typeface="Calibri"/>
              </a:defRPr>
            </a:pPr>
            <a:r>
              <a:t>Strategic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01168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3A70"/>
                </a:solidFill>
                <a:latin typeface="Calibri"/>
              </a:defRPr>
            </a:pPr>
            <a:r>
              <a:t>Winning Gen Z requires creator engagement paired with tactile product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Prioritize creator and brand social channels to trigger top-of-funnel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70632"/>
            <a:ext cx="102412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Maintain physical try-on and fit experiences in fashion retail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47872"/>
            <a:ext cx="102412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548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8EB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Calibri"/>
              </a:defRPr>
            </a:pPr>
            <a:r>
              <a:t>Capitalize on high brand affinity in beauty through authentic product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Source: Statista Synthesis,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B7280"/>
                </a:solidFill>
                <a:latin typeface="Calibri"/>
              </a:defRPr>
            </a:pPr>
            <a:r>
              <a:t>Note: Based on three independent Statista surveys (~10,600+ total US respondents, 2024–2025). Note: GoDaddy survey published Oct 2024 references 2025 figures, representing forward-looking consumer projections.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Calibri"/>
              </a:defRPr>
            </a:pPr>
            <a:r>
              <a:t>Gen Z Purchase Behavior in the US  |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